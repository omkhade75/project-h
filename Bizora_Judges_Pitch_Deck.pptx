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59E0B"/>
                </a:solidFill>
                <a:latin typeface="Trebuchet MS"/>
              </a:defRPr>
            </a:pPr>
            <a:r>
              <a:t>BIZORA AI</a:t>
            </a:r>
          </a:p>
          <a:p>
            <a:pPr>
              <a:spcBef>
                <a:spcPts val="1200"/>
              </a:spcBef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Autonomous Retail Operating System for 13M Indian Kiranas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Hardware-free camera barcode POS, automated WhatsApp receipts, and autonomous Hindi Voice AI restocking in one unified multi-portal ecosystem.</a:t>
            </a:r>
          </a:p>
          <a:p>
            <a:pPr>
              <a:spcBef>
                <a:spcPts val="2000"/>
              </a:spcBef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● 100% Code Complete   ● Zero Hardware Cost   ● Live on Render</a:t>
            </a:r>
          </a:p>
          <a:p>
            <a:pPr>
              <a:spcBef>
                <a:spcPts val="1200"/>
              </a:spcBef>
              <a:defRPr sz="1200" b="1">
                <a:solidFill>
                  <a:srgbClr val="38BDF8"/>
                </a:solidFill>
                <a:latin typeface="Segoe UI"/>
              </a:defRPr>
            </a:pPr>
            <a:r>
              <a:t>Live Demo: https://bizora-owner.onrender.com  |  Founder: Om Khade</a:t>
            </a:r>
          </a:p>
        </p:txBody>
      </p:sp>
      <p:pic>
        <p:nvPicPr>
          <p:cNvPr id="5" name="Picture 4" descr="bizora_launch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297680" cy="2398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The Crisis in Indian Retail: $1.1T Market Operating 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4747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EF4444"/>
                </a:solidFill>
                <a:latin typeface="Trebuchet MS"/>
              </a:defRPr>
            </a:pPr>
            <a:r>
              <a:t>₹35,000+ Monthly Shrinkage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Perishables expire on shelves unnoticed due to zero FIFO batch tracking. Retailers lose 4.2% of gross margins to silent spoilage.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34747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59E0B"/>
                </a:solidFill>
                <a:latin typeface="Trebuchet MS"/>
              </a:defRPr>
            </a:pPr>
            <a:r>
              <a:t>₹45,000 Hardware Cost Barrier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Traditional ERPs (Tally, Busy) demand bulky desktop computers, barcode laser guns, and UPS power backups that small kiranas cannot afford.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347472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8BDF8"/>
                </a:solidFill>
                <a:latin typeface="Trebuchet MS"/>
              </a:defRPr>
            </a:pPr>
            <a:r>
              <a:t>Quick-Commerce Disruption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Blinkit and Zepto are pulling urban shoppers away with 10-minute delivery. Local store owners have zero online catalog or delivery presence.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8223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F8FAFC"/>
                </a:solidFill>
                <a:latin typeface="Segoe UI"/>
              </a:defRPr>
            </a:pPr>
            <a:r>
              <a:t>💡 The Bottom Line: Over 90% of India's retail commerce is powered by 13 million neighborhood stores, yet 95% run on manual calculators and paper diaries.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Bizora AI: The Complete Autonomous Retail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⚡ Camera Barcode POS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Turns any smartphone or tablet camera into an ultra-fast barcode checkout terminal in 60 seconds. Zero expensive scanner guns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📱 1-Tap WhatsApp Receipts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Itemized digital invoices sent instantly to customer WhatsApp. Saves up to ₹1,800/mo on physical thermal paper rolls.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🤖 Hindi Voice AI Restocking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Conversational AI voice agents call distributors directly in natural Hindi and English to reorder goods before stockouts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🛍️ 10-Min Hyperlocal Storefront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Every shopkeeper gets an instant neighborhood online storefront. Local customers order online, store fulfills in 10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PRODUCT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One Unified Core: 5 Synchronized Portals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👑 Store Owner Portal   —   bizora-owner.onrender.com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12-Core Shopkeeper Dashboard: POS billing, camera barcode scan, inventory FIFO, daily P&amp;L accounting, and anomaly radar.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🛍️ Customer Storefront   —   bizora-customer.onrender.com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Hyperlocal neighborhood shopping catalog, 10-min essentials ordering, digital bill wallet, and loyalty 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🚚 Supplier Hub   —   bizora-supplier.onrender.com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Direct vendor portal for reviewing inbound digital Purchase Orders, shipment tracking, and invoice matching.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🛡️ Super Admin Console   —   bizora-admin.onrender.com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Platform verification console for reviewing store registrations, tenant provisioning, and 5-min server health watchdog.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Trebuchet MS"/>
              </a:defRPr>
            </a:pPr>
            <a:r>
              <a:t>🌐 Web Marketing Portal   —   bizora-web.onrender.com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Public showcase, interactive merchant ROI calculator, transparent SaaS pricing, and instant self-onboarding.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MARKET SIZE &amp; 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Market Opportunity: India's $1.1 Trillion Retail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297680"/>
          </a:xfrm>
          <a:prstGeom prst="roundRect">
            <a:avLst/>
          </a:prstGeom>
          <a:solidFill>
            <a:srgbClr val="10182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TAM: TOTAL MARKET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$1.1 Trillion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Total Indian retail commerce, expanding at 12% CAGR to cross $2.0 Trillion by 2030.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4297680"/>
          </a:xfrm>
          <a:prstGeom prst="roundRect">
            <a:avLst/>
          </a:prstGeom>
          <a:solidFill>
            <a:srgbClr val="10182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SAM: TARGET STORES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13 Million+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Total Kirana stores across Tier 1, 2, and 3 Indian cities powering 90% of food &amp; grocery commerce.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560320" cy="4297680"/>
          </a:xfrm>
          <a:prstGeom prst="roundRect">
            <a:avLst/>
          </a:prstGeom>
          <a:solidFill>
            <a:srgbClr val="10182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SOM: ADDRESSABLE SAAS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$4.8 Billion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Serviceable SaaS and value-added fintech revenue from tech-adopting urban &amp; semi-urban retailers.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37360"/>
            <a:ext cx="2560320" cy="4297680"/>
          </a:xfrm>
          <a:prstGeom prst="roundRect">
            <a:avLst/>
          </a:prstGeom>
          <a:solidFill>
            <a:srgbClr val="101828"/>
          </a:solidFill>
          <a:ln w="254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E68A"/>
                </a:solidFill>
                <a:latin typeface="Segoe UI"/>
              </a:defRPr>
            </a:pPr>
            <a:r>
              <a:t>MERCHANT VALUE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₹35,000 / mo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Net monthly economic savings delivered per store via shrinkage prevention and faster checkout.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Competitive Advantage: Deep Moats vs Legacy &amp; Generic Apps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3152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59E0B"/>
                          </a:solidFill>
                          <a:latin typeface="Trebuchet MS"/>
                        </a:defRPr>
                      </a:pPr>
                      <a:r>
                        <a:t>Bizora AI (OmniMind)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Legacy POS (Tally/Busy)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8FAFC"/>
                          </a:solidFill>
                          <a:latin typeface="Trebuchet MS"/>
                        </a:defRPr>
                      </a:pPr>
                      <a:r>
                        <a:t>Generic Apps (Khatabook/Vyapar)</a:t>
                      </a:r>
                    </a:p>
                  </a:txBody>
                  <a:tcPr>
                    <a:solidFill>
                      <a:srgbClr val="1822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Hardware Requirement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Zero (Camera on Phone)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₹45,000+ PC &amp; Laser Gun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Basic Mobile Screen Only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Voice AI Supplier Restock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Autonomous Hindi Calling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Customer Storefront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10-Min Local Delivery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Static WhatsApp Catalog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FIFO Expiry &amp; Markdown Radar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Automated Loss Prevention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Audits Only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Multi-Portal Synchronization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5 Portals Live Synced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 PC Database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 User Mobile App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Monetization: Modular High-Margin SaaS Subscriptions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2918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  <a:latin typeface="Trebuchet MS"/>
              </a:defRPr>
            </a:pPr>
            <a:r>
              <a:t>Kirana / Starter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₹0 / Free Forever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Single-counter kiranas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Camera Barcode POS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Up to 200 Products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Hindi &amp; English UI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1 Counter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32918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  <a:latin typeface="Trebuchet MS"/>
              </a:defRPr>
            </a:pPr>
            <a:r>
              <a:t>Retailer / Growth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₹699 / month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Supermarkets, apparel &amp; retail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Unlimited Billing &amp; Products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500 WhatsApp Bills/mo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10 Vapi Voice Calls/mo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FIFO Expiry Radar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3 Staff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32918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  <a:latin typeface="Trebuchet MS"/>
              </a:defRPr>
            </a:pPr>
            <a:r>
              <a:t>Enterprise Chain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  <a:latin typeface="Trebuchet MS"/>
              </a:defRPr>
            </a:pPr>
            <a:r>
              <a:t>₹1,999 / month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Multi-store franchises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Multi-Branch Control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Unlimited WhatsApp Receipts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100 Vapi Voice Mins/mo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✓ 10 Staff User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10698480" cy="1143000"/>
          </a:xfrm>
          <a:prstGeom prst="roundRect">
            <a:avLst/>
          </a:prstGeom>
          <a:solidFill>
            <a:srgbClr val="18223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Trebuchet MS"/>
              </a:defRPr>
            </a:pPr>
            <a:r>
              <a:t>📈 SAAS UNIT ECONOMICS HIGHLIGHTS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Blended ARPU: ₹699/mo   |   Blended CAC: ₹850   |   Customer LTV: ₹14,500   |   LTV/CAC Ratio: 17.0x   |   Gross Margin: 82%+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The Ask: Transitioning from Staging to Commercial 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1018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  <a:latin typeface="Trebuchet MS"/>
              </a:defRPr>
            </a:pPr>
            <a:r>
              <a:t>Capital Requirement: Seed Infrastructure &amp; Merchant Expansion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The product code is 100% complete across all 5 portals with zero technical debt. Capital is strictly deployed for production infrastructure (Render Paid Web Services, MongoDB Atlas M10 dedicated cluster) and merchant onboarding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2560320" cy="29260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  <a:latin typeface="Trebuchet MS"/>
              </a:defRPr>
            </a:pPr>
            <a:r>
              <a:t>Cloud Infrastructure (30%)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Render paid web services, MongoDB Atlas dedicated cluster, auto-scaling, and Redis caching.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337560"/>
            <a:ext cx="2560320" cy="29260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Trebuchet MS"/>
              </a:defRPr>
            </a:pPr>
            <a:r>
              <a:t>Voice AI &amp; Telephony (25%)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Vapi AI conversational voice calling minutes and Twilio WhatsApp messaging quotas.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337560"/>
            <a:ext cx="2560320" cy="29260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Merchant Acquisition (35%)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Direct kirana onboarding drives, wholesale mandi partnerships, and merchant trade shows.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337560"/>
            <a:ext cx="2560320" cy="2926080"/>
          </a:xfrm>
          <a:prstGeom prst="roundRect">
            <a:avLst/>
          </a:prstGeom>
          <a:solidFill>
            <a:srgbClr val="101828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DE68A"/>
                </a:solidFill>
                <a:latin typeface="Trebuchet MS"/>
              </a:defRPr>
            </a:pPr>
            <a:r>
              <a:t>DevOps &amp; Reliability (10%)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Security penetration testing, SOC2 compliance preparation, and 24/7 reliability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59E0B"/>
                </a:solidFill>
                <a:latin typeface="Trebuchet MS"/>
              </a:defRPr>
            </a:pPr>
            <a:r>
              <a:t>EXPERIENCE BIZORA AI LIVE TODAY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Transforming Indian Retail, One Kirana Store At A Time.</a:t>
            </a:r>
          </a:p>
          <a:p>
            <a:pPr>
              <a:spcBef>
                <a:spcPts val="1600"/>
              </a:spcBef>
              <a:defRPr sz="1400">
                <a:solidFill>
                  <a:srgbClr val="38BDF8"/>
                </a:solidFill>
                <a:latin typeface="Segoe UI"/>
              </a:defRPr>
            </a:pPr>
            <a:r>
              <a:t>• Store Owner Portal: https://bizora-owner.onrender.com</a:t>
            </a:r>
            <a:br/>
            <a:r>
              <a:t>• Customer Storefront: https://bizora-customer.onrender.com</a:t>
            </a:r>
            <a:br/>
            <a:r>
              <a:t>• Supplier Hub: https://bizora-supplier.onrender.com</a:t>
            </a:r>
            <a:br/>
            <a:r>
              <a:t>• Super Admin Console: https://bizora-admin.onrender.com</a:t>
            </a:r>
          </a:p>
          <a:p>
            <a:pPr>
              <a:spcBef>
                <a:spcPts val="2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Founder Contact: khade8915@gmail.com  |  Thank You &amp; 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