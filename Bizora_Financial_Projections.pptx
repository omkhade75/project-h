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F59E0B"/>
                </a:solidFill>
                <a:latin typeface="Trebuchet MS"/>
              </a:defRPr>
            </a:pPr>
            <a:r>
              <a:t>BIZORA AI — FINANCIAL MODEL</a:t>
            </a:r>
          </a:p>
          <a:p>
            <a:pPr>
              <a:spcBef>
                <a:spcPts val="1200"/>
              </a:spcBef>
              <a:defRPr sz="2200" b="1">
                <a:solidFill>
                  <a:srgbClr val="F8FAFC"/>
                </a:solidFill>
                <a:latin typeface="Trebuchet MS"/>
              </a:defRPr>
            </a:pPr>
            <a:r>
              <a:t>Unit Economics, 3-Year Projections, SaaS Margins &amp; Infrastructure Economics</a:t>
            </a:r>
          </a:p>
          <a:p>
            <a:pPr>
              <a:spcBef>
                <a:spcPts val="1200"/>
              </a:spcBef>
              <a:defRPr sz="1400">
                <a:solidFill>
                  <a:srgbClr val="94A3B8"/>
                </a:solidFill>
                <a:latin typeface="Segoe UI"/>
              </a:defRPr>
            </a:pPr>
            <a:r>
              <a:t>Prepared for Investors, Incubator Judges, and Financial Due Diligence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UNIT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Trebuchet MS"/>
              </a:defRPr>
            </a:pPr>
            <a:r>
              <a:t>Unit Economics: World-Class 17x LTV/CAC &amp; 82%+ Gross Margins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560320" cy="4297680"/>
          </a:xfrm>
          <a:prstGeom prst="roundRect">
            <a:avLst/>
          </a:prstGeom>
          <a:solidFill>
            <a:srgbClr val="101828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  <a:latin typeface="Segoe UI"/>
              </a:defRPr>
            </a:pPr>
            <a:r>
              <a:t>BLENDED ARPU</a:t>
            </a:r>
          </a:p>
          <a:p>
            <a:pPr>
              <a:spcBef>
                <a:spcPts val="1000"/>
              </a:spcBef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₹699 / mo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Blended across Growth (₹699/mo) and Enterprise (₹1,999/mo) paying merchants.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737360"/>
            <a:ext cx="2560320" cy="4297680"/>
          </a:xfrm>
          <a:prstGeom prst="roundRect">
            <a:avLst/>
          </a:prstGeom>
          <a:solidFill>
            <a:srgbClr val="101828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59E0B"/>
                </a:solidFill>
                <a:latin typeface="Segoe UI"/>
              </a:defRPr>
            </a:pPr>
            <a:r>
              <a:t>BLENDED CAC</a:t>
            </a:r>
          </a:p>
          <a:p>
            <a:pPr>
              <a:spcBef>
                <a:spcPts val="1000"/>
              </a:spcBef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₹850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Achieved via hyper-localized kirana community referrals and distributor partnerships.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737360"/>
            <a:ext cx="2560320" cy="4297680"/>
          </a:xfrm>
          <a:prstGeom prst="roundRect">
            <a:avLst/>
          </a:prstGeom>
          <a:solidFill>
            <a:srgbClr val="101828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CUSTOMER LIFETIME VALUE</a:t>
            </a:r>
          </a:p>
          <a:p>
            <a:pPr>
              <a:spcBef>
                <a:spcPts val="1000"/>
              </a:spcBef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₹14,500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Assuming 24-month average store lifetime with under 3.5% monthly merchant churn.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737360"/>
            <a:ext cx="2560320" cy="4297680"/>
          </a:xfrm>
          <a:prstGeom prst="roundRect">
            <a:avLst/>
          </a:prstGeom>
          <a:solidFill>
            <a:srgbClr val="101828"/>
          </a:solidFill>
          <a:ln w="254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DE68A"/>
                </a:solidFill>
                <a:latin typeface="Segoe UI"/>
              </a:defRPr>
            </a:pPr>
            <a:r>
              <a:t>LTV / CAC RATIO</a:t>
            </a:r>
          </a:p>
          <a:p>
            <a:pPr>
              <a:spcBef>
                <a:spcPts val="1000"/>
              </a:spcBef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17.0x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Exceptional SaaS capital efficiency driven by merchant viral adoption and word-of-mouth.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FINANCIAL FORECAST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Trebuchet MS"/>
              </a:defRPr>
            </a:pPr>
            <a:r>
              <a:t>3-Year Growth &amp; Profitability Projections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7315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  <a:latin typeface="Trebuchet MS"/>
                        </a:defRPr>
                      </a:pPr>
                      <a:r>
                        <a:t>Financial Metric</a:t>
                      </a:r>
                    </a:p>
                  </a:txBody>
                  <a:tcPr>
                    <a:solidFill>
                      <a:srgbClr val="18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  <a:latin typeface="Trebuchet MS"/>
                        </a:defRPr>
                      </a:pPr>
                      <a:r>
                        <a:t>Year 1 (Scale Launch)</a:t>
                      </a:r>
                    </a:p>
                  </a:txBody>
                  <a:tcPr>
                    <a:solidFill>
                      <a:srgbClr val="18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  <a:latin typeface="Trebuchet MS"/>
                        </a:defRPr>
                      </a:pPr>
                      <a:r>
                        <a:t>Year 2 (Regional Expansion)</a:t>
                      </a:r>
                    </a:p>
                  </a:txBody>
                  <a:tcPr>
                    <a:solidFill>
                      <a:srgbClr val="18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  <a:latin typeface="Trebuchet MS"/>
                        </a:defRPr>
                      </a:pPr>
                      <a:r>
                        <a:t>Year 3 (National Presence)</a:t>
                      </a:r>
                    </a:p>
                  </a:txBody>
                  <a:tcPr>
                    <a:solidFill>
                      <a:srgbClr val="18223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Total Active Stores</a:t>
                      </a:r>
                    </a:p>
                  </a:txBody>
                  <a:tcPr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1,500 Stores</a:t>
                      </a:r>
                    </a:p>
                  </a:txBody>
                  <a:tcPr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8,500 Stores</a:t>
                      </a:r>
                    </a:p>
                  </a:txBody>
                  <a:tcPr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32,000 Stores</a:t>
                      </a:r>
                    </a:p>
                  </a:txBody>
                  <a:tcPr>
                    <a:solidFill>
                      <a:srgbClr val="10182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Paying Stores (SaaS Conversion)</a:t>
                      </a:r>
                    </a:p>
                  </a:txBody>
                  <a:tcPr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450 Stores (30%)</a:t>
                      </a:r>
                    </a:p>
                  </a:txBody>
                  <a:tcPr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3,400 Stores (40%)</a:t>
                      </a:r>
                    </a:p>
                  </a:txBody>
                  <a:tcPr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14,400 Stores (45%)</a:t>
                      </a:r>
                    </a:p>
                  </a:txBody>
                  <a:tcPr>
                    <a:solidFill>
                      <a:srgbClr val="10182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Annual Recurring Revenue (ARR)</a:t>
                      </a:r>
                    </a:p>
                  </a:txBody>
                  <a:tcPr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₹38.5 Lakhs</a:t>
                      </a:r>
                    </a:p>
                  </a:txBody>
                  <a:tcPr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₹3.12 Crores</a:t>
                      </a:r>
                    </a:p>
                  </a:txBody>
                  <a:tcPr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₹14.85 Crores</a:t>
                      </a:r>
                    </a:p>
                  </a:txBody>
                  <a:tcPr>
                    <a:solidFill>
                      <a:srgbClr val="10182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Cloud Infrastructure &amp; APIs</a:t>
                      </a:r>
                    </a:p>
                  </a:txBody>
                  <a:tcPr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₹6.8 Lakhs</a:t>
                      </a:r>
                    </a:p>
                  </a:txBody>
                  <a:tcPr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₹34.5 Lakhs</a:t>
                      </a:r>
                    </a:p>
                  </a:txBody>
                  <a:tcPr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₹1.42 Crores</a:t>
                      </a:r>
                    </a:p>
                  </a:txBody>
                  <a:tcPr>
                    <a:solidFill>
                      <a:srgbClr val="10182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Operating Profit / EBITDA</a:t>
                      </a:r>
                    </a:p>
                  </a:txBody>
                  <a:tcPr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₹14.2 Lakhs (Profitable)</a:t>
                      </a:r>
                    </a:p>
                  </a:txBody>
                  <a:tcPr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₹1.85 Crores (59% Margin)</a:t>
                      </a:r>
                    </a:p>
                  </a:txBody>
                  <a:tcPr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₹9.75 Crores (65% Margin)</a:t>
                      </a:r>
                    </a:p>
                  </a:txBody>
                  <a:tcPr>
                    <a:solidFill>
                      <a:srgbClr val="1018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INFRASTRUCTURE COSTS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Trebuchet MS"/>
              </a:defRPr>
            </a:pPr>
            <a:r>
              <a:t>Cloud Infrastructure Cost Analysis: Lean &amp; Highly Scalable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1325880"/>
          </a:xfrm>
          <a:prstGeom prst="roundRect">
            <a:avLst/>
          </a:prstGeom>
          <a:solidFill>
            <a:srgbClr val="101828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  <a:latin typeface="Trebuchet MS"/>
              </a:defRPr>
            </a:pPr>
            <a:r>
              <a:t>Render Web Compute — $35 / mo (5 portals @ $7/mo)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Provides 24/7 dedicated warm compute instances with zero free-tier sleep delay.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1325880"/>
          </a:xfrm>
          <a:prstGeom prst="roundRect">
            <a:avLst/>
          </a:prstGeom>
          <a:solidFill>
            <a:srgbClr val="101828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  <a:latin typeface="Trebuchet MS"/>
              </a:defRPr>
            </a:pPr>
            <a:r>
              <a:t>MongoDB Atlas Database — $57 / mo (M10 Cluster)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Dedicated RAM, CPU, automated backups, and sub-10ms query latency for 5,000+ stores.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54680"/>
            <a:ext cx="5120640" cy="1325880"/>
          </a:xfrm>
          <a:prstGeom prst="roundRect">
            <a:avLst/>
          </a:prstGeom>
          <a:solidFill>
            <a:srgbClr val="101828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  <a:latin typeface="Trebuchet MS"/>
              </a:defRPr>
            </a:pPr>
            <a:r>
              <a:t>PostgreSQL / Prisma ORM — $15 / mo (Managed Database)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ACID-compliant double-entry ledger transactions and customer transaction history.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154680"/>
            <a:ext cx="5120640" cy="1325880"/>
          </a:xfrm>
          <a:prstGeom prst="roundRect">
            <a:avLst/>
          </a:prstGeom>
          <a:solidFill>
            <a:srgbClr val="101828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  <a:latin typeface="Trebuchet MS"/>
              </a:defRPr>
            </a:pPr>
            <a:r>
              <a:t>Vapi Voice AI Restocking — $0.05 / completed call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Billed purely on consumption. 10 calls/month per active growth store costs ~$0.50/mo.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663440"/>
            <a:ext cx="5120640" cy="1325880"/>
          </a:xfrm>
          <a:prstGeom prst="roundRect">
            <a:avLst/>
          </a:prstGeom>
          <a:solidFill>
            <a:srgbClr val="101828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  <a:latin typeface="Trebuchet MS"/>
              </a:defRPr>
            </a:pPr>
            <a:r>
              <a:t>WhatsApp Invoicing (Twilio) — ₹0.30 / receipt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Utility template category. Far cheaper than thermal rolls (₹1.20 per paper roll print).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4663440"/>
            <a:ext cx="5120640" cy="1325880"/>
          </a:xfrm>
          <a:prstGeom prst="roundRect">
            <a:avLst/>
          </a:prstGeom>
          <a:solidFill>
            <a:srgbClr val="101828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  <a:latin typeface="Trebuchet MS"/>
              </a:defRPr>
            </a:pPr>
            <a:r>
              <a:t>Resend Automated Alerting — Free tier -&gt; $20 / mo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System health monitoring, 5-minute crash watchdogs, and merchant onboarding emails.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SHOPKEEPER 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Trebuchet MS"/>
              </a:defRPr>
            </a:pPr>
            <a:r>
              <a:t>Merchant Value Realization: The Irresistible ₹35,000/mo ROI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560320" cy="4297680"/>
          </a:xfrm>
          <a:prstGeom prst="roundRect">
            <a:avLst/>
          </a:prstGeom>
          <a:solidFill>
            <a:srgbClr val="101828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STOCKOUT &amp; LEAK PREVENTION</a:t>
            </a:r>
          </a:p>
          <a:p>
            <a:pPr>
              <a:spcBef>
                <a:spcPts val="1000"/>
              </a:spcBef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₹18,000 / mo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FIFO expiry radar and automated reorder alerts prevent perishable goods from rotting on shelves.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737360"/>
            <a:ext cx="2560320" cy="4297680"/>
          </a:xfrm>
          <a:prstGeom prst="roundRect">
            <a:avLst/>
          </a:prstGeom>
          <a:solidFill>
            <a:srgbClr val="101828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59E0B"/>
                </a:solidFill>
                <a:latin typeface="Segoe UI"/>
              </a:defRPr>
            </a:pPr>
            <a:r>
              <a:t>THERMAL PAPER SAVINGS</a:t>
            </a:r>
          </a:p>
          <a:p>
            <a:pPr>
              <a:spcBef>
                <a:spcPts val="1000"/>
              </a:spcBef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₹1,800 / mo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Switching 1,200 monthly receipts to digital WhatsApp shares saves on physical thermal roll purchases.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737360"/>
            <a:ext cx="2560320" cy="4297680"/>
          </a:xfrm>
          <a:prstGeom prst="roundRect">
            <a:avLst/>
          </a:prstGeom>
          <a:solidFill>
            <a:srgbClr val="101828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  <a:latin typeface="Segoe UI"/>
              </a:defRPr>
            </a:pPr>
            <a:r>
              <a:t>TIME SAVED IN BILLING</a:t>
            </a:r>
          </a:p>
          <a:p>
            <a:pPr>
              <a:spcBef>
                <a:spcPts val="1000"/>
              </a:spcBef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₹12,000 / mo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Cuts customer checkout time by 60% and eliminates 2 hours of daily manual pen-and-paper accounting.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737360"/>
            <a:ext cx="2560320" cy="4297680"/>
          </a:xfrm>
          <a:prstGeom prst="roundRect">
            <a:avLst/>
          </a:prstGeom>
          <a:solidFill>
            <a:srgbClr val="101828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INCREMENTAL ONLINE ORDERS</a:t>
            </a:r>
          </a:p>
          <a:p>
            <a:pPr>
              <a:spcBef>
                <a:spcPts val="1000"/>
              </a:spcBef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₹3,500 / mo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Local shoppers order directly from the shopkeeper's storefront for neighborhood delivery.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